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基于用户提供的《llm asic这个项目要做什么.pptx》整理。该稿区分场景、目标与 POC，避免把架构假设误认为已经验证的芯片规格。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内容源：原始用户 PPT 第 2 页场景约束。技术背景：NVIDIA 对 prefill、decode 阶段的说明 https://developer.nvidia.com/blog/optimizing-inference-for-long-context-and-large-batch-sizes-with-nvfp4-kv-cache/ ；Hugging Face KV cache 说明 https://huggingface.co/docs/transformers/v4.53.0/en/cache_explanation 。功耗预算在此是场景约束，不是 POC 已达成结果。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数字来自原始 PPT 第 3 页，按“拟定目标”而不是已验证规格展示。≥16 GB 为设计建议，用于区别 POC 的 8 GB 候选配置；不代表已完成芯片设计。512 GB/s 是理论峰值，不是实测有效带宽。80 token/s 限定于 4B、W4A16、BF16 KV、Batch 1、8K 上下文；输出长度、采样策略和功耗测量边界需在 POC 前冻结。模型参考：Qwen/Qwen3-4B-Instruct-2507 模型卡 https://huggingface.co/Qwen/Qwen3-4B-Instruct-2507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候选配置取自原始 PPT 第 4 页。请注意原稿没有定义它是软件模拟、FPGA/板级或物理芯片，因此本页按“候选验证配置”呈现，不宣称已完成。INT8 与 BF16 峰值均是探索值。对于 W4A16 解码负载，不能直接用 BF16 峰值性能代替端到端指标。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POC 原稿第 5 页仅列出 GEMM/GEMV/Attention/KV Cache/RMSNorm 汇编版本；本页把“单算子可运行”扩展为端到端、正确性、性能解释和设计决策。测试口径需要补充：选定模型权重版本、Prompt/输出长度、缓存精度、量化方案、采样策略、功耗测量边界。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POC 原稿第 5 页仅列出 GEMM/GEMV/Attention/KV Cache/RMSNorm 汇编版本；本页把“单算子可运行”扩展为端到端、正确性、性能解释和设计决策。测试口径需要补充：选定模型权重版本、Prompt/输出长度、缓存精度、量化方案、采样策略、功耗测量边界。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POC 原稿第 5 页仅列出 GEMM/GEMV/Attention/KV Cache/RMSNorm 汇编版本；本页把“单算子可运行”扩展为端到端、正确性、性能解释和设计决策。测试口径需要补充：选定模型权重版本、Prompt/输出长度、缓存精度、量化方案、采样策略、功耗测量边界。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0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/>
        <a:buChar char="●"/>
        <a:defRPr sz="18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 panose="020B0604020202090204"/>
        <a:buChar char="•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838200" y="10382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PROJECT BRIEF  /  2026</a:t>
            </a:r>
            <a:endParaRPr sz="135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38200" y="1571625"/>
            <a:ext cx="742950" cy="38100"/>
          </a:xfrm>
          <a:prstGeom prst="rect">
            <a:avLst/>
          </a:prstGeom>
          <a:solidFill>
            <a:srgbClr val="245D78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2028825"/>
            <a:ext cx="102870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9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端侧 LLM ASIC</a:t>
            </a:r>
            <a:endParaRPr sz="3975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2762250"/>
            <a:ext cx="102870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9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目标与验证路径</a:t>
            </a:r>
            <a:endParaRPr sz="3975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3771900"/>
            <a:ext cx="10191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把场景约束、最终芯片目标和 POC 验收分开讨论</a:t>
            </a:r>
            <a:endParaRPr sz="180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501015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47725" y="5314950"/>
            <a:ext cx="3162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 场景与瓶颈</a:t>
            </a:r>
            <a:endParaRPr sz="157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371975" y="5314950"/>
            <a:ext cx="32480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 目标芯片规格</a:t>
            </a:r>
            <a:endParaRPr sz="157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58125" y="5314950"/>
            <a:ext cx="35337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POC 与退出条件</a:t>
            </a:r>
            <a:endParaRPr sz="157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640080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项目定义讨论稿  ·  未经 POC 验证的数字不作为流片承诺</a:t>
            </a:r>
            <a:endParaRPr sz="1125" b="0">
              <a:solidFill>
                <a:srgbClr val="7080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838200" y="4191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 /  项目面向什么</a:t>
            </a:r>
            <a:endParaRPr sz="120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38200" y="7620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场景与核心瓶颈</a:t>
            </a:r>
            <a:endParaRPr sz="285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13906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优先考虑有主动散热条件的端侧交互，不以云端大批量吞吐为第一目标</a:t>
            </a:r>
            <a:endParaRPr sz="150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1866900"/>
            <a:ext cx="10515600" cy="19050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634365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6448425"/>
            <a:ext cx="942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 ASIC 项目讨论稿  ·  规格为目标或假设，须经 POC 验证</a:t>
            </a:r>
            <a:endParaRPr sz="1050" b="0">
              <a:solidFill>
                <a:srgbClr val="7080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48425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050" b="0">
              <a:solidFill>
                <a:srgbClr val="7080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43125"/>
            <a:ext cx="4591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目标场景</a:t>
            </a:r>
            <a:endParaRPr sz="172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2143125"/>
            <a:ext cx="44767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推理瓶颈</a:t>
            </a:r>
            <a:endParaRPr sz="172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91200" y="2190750"/>
            <a:ext cx="9525" cy="3714750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609850"/>
            <a:ext cx="46958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机器人  /  工业边缘盒  /  车载座舱</a:t>
            </a:r>
            <a:endParaRPr sz="165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124200"/>
            <a:ext cx="4572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本地运行、低延迟交互；部署端具备</a:t>
            </a:r>
            <a:endParaRPr sz="142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3448050"/>
            <a:ext cx="46196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主动散热与约 30 W 持续功耗预算。</a:t>
            </a:r>
            <a:endParaRPr sz="142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4000500"/>
            <a:ext cx="4524375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200525"/>
            <a:ext cx="4533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工作负载边界</a:t>
            </a:r>
            <a:endParaRPr sz="150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" y="4572000"/>
            <a:ext cx="4572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4B 模型为主，≤7B 为覆盖目标</a:t>
            </a:r>
            <a:endParaRPr sz="142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4914900"/>
            <a:ext cx="4572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Batch 1–2，4K–8K 上下文</a:t>
            </a:r>
            <a:endParaRPr sz="142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5257800"/>
            <a:ext cx="4572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Prefill 与 Decode 都必须跑通</a:t>
            </a:r>
            <a:endParaRPr sz="142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91250" y="2609850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Prefill  /  首 token 等待</a:t>
            </a:r>
            <a:endParaRPr sz="165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91250" y="3038475"/>
            <a:ext cx="4953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长输入需要高效矩阵计算、数据复用；</a:t>
            </a:r>
            <a:endParaRPr sz="142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91250" y="3352800"/>
            <a:ext cx="4953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主要看 TTFT 与可持续计算吞吐。</a:t>
            </a:r>
            <a:endParaRPr sz="142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3886200"/>
            <a:ext cx="47625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191250" y="4114800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Decode  /  逐 token 生成</a:t>
            </a:r>
            <a:endParaRPr sz="165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91250" y="4543425"/>
            <a:ext cx="4857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 Batch 下权重与历史 KV 反复访问；</a:t>
            </a:r>
            <a:endParaRPr sz="142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4857750"/>
            <a:ext cx="50482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主要看有效带宽、每 token 能耗与时延。</a:t>
            </a:r>
            <a:endParaRPr sz="142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191250" y="5476875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定位：优先减少数据搬运，而不是仅以峰值 TFLOPS 定义产品。</a:t>
            </a:r>
            <a:endParaRPr sz="135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838200" y="4191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 /  最终希望做出的芯片</a:t>
            </a:r>
            <a:endParaRPr sz="120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38200" y="7620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首版目标规格  ·  待 POC 校准</a:t>
            </a:r>
            <a:endParaRPr sz="285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13906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先固定测试负载和产品边界，再用 POC 反推所需算力与片上资源</a:t>
            </a:r>
            <a:endParaRPr sz="150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1866900"/>
            <a:ext cx="10515600" cy="19050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634365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6448425"/>
            <a:ext cx="942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 ASIC 项目讨论稿  ·  规格为目标或假设，须经 POC 验证</a:t>
            </a:r>
            <a:endParaRPr sz="1050" b="0">
              <a:solidFill>
                <a:srgbClr val="7080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48425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050" b="0">
              <a:solidFill>
                <a:srgbClr val="7080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3360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3050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 / 精度</a:t>
            </a:r>
            <a:endParaRPr sz="157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24250" y="2276475"/>
            <a:ext cx="76676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主力 4B；≤7B 可运行｜W4A16，BF16 KV 为基线</a:t>
            </a:r>
            <a:endParaRPr sz="157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93370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31051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交互性能</a:t>
            </a:r>
            <a:endParaRPr sz="157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24250" y="3076575"/>
            <a:ext cx="76676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4B、Batch 1、8K：Decode ≥80 token/s</a:t>
            </a:r>
            <a:endParaRPr sz="157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73380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39052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外部存储</a:t>
            </a:r>
            <a:endParaRPr sz="157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24250" y="3876675"/>
            <a:ext cx="76676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容量 ≥16 GB；理论峰值带宽目标 512 GB/s</a:t>
            </a:r>
            <a:endParaRPr sz="157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453390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4400" y="47053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功耗边界</a:t>
            </a:r>
            <a:endParaRPr sz="157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24250" y="4676775"/>
            <a:ext cx="76676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峰值 ≤40 W；持续 ≤30 W（须定义芯片/模组口径）</a:t>
            </a:r>
            <a:endParaRPr sz="1575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533400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38200" y="55626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暂不冻结的两项</a:t>
            </a:r>
            <a:endParaRPr sz="135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371850" y="5524500"/>
            <a:ext cx="78581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80 TFLOPS BF16 峰值与 TTFT 1–1.5 s 缺少工作负载/测量口径；由 POC 回推。</a:t>
            </a:r>
            <a:endParaRPr sz="135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838200" y="4191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20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38200" y="7620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验证架构假设，而非交付缩小版芯片</a:t>
            </a:r>
            <a:endParaRPr sz="285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13906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POC 要回答：能否在目标模型上解释性能、带宽和功耗，并形成可复核的证据</a:t>
            </a:r>
            <a:endParaRPr sz="150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1866900"/>
            <a:ext cx="10515600" cy="19050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634365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6448425"/>
            <a:ext cx="942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 ASIC 项目讨论稿  ·  规格为目标或假设，须经 POC 验证</a:t>
            </a:r>
            <a:endParaRPr sz="1050" b="0">
              <a:solidFill>
                <a:srgbClr val="7080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48425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050" b="0">
              <a:solidFill>
                <a:srgbClr val="7080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2181225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需要做出来</a:t>
            </a:r>
            <a:endParaRPr sz="172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391275" y="2181225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候选验证配置  ·  非最终规格</a:t>
            </a:r>
            <a:endParaRPr sz="172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72175" y="2190750"/>
            <a:ext cx="9525" cy="3848100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269557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完整路径</a:t>
            </a:r>
            <a:endParaRPr sz="1575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3038475"/>
            <a:ext cx="4905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模型图 → 编译/映射 → 运行时 → Prefill / Decode</a:t>
            </a:r>
            <a:endParaRPr sz="135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35433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核心内核</a:t>
            </a:r>
            <a:endParaRPr sz="1575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886200"/>
            <a:ext cx="4905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GEMM、GEMV、Attention、KV Cache、RMSNorm；补齐必要算子</a:t>
            </a:r>
            <a:endParaRPr sz="135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43910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数据流证据</a:t>
            </a:r>
            <a:endParaRPr sz="1575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" y="4733925"/>
            <a:ext cx="4905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逐层分析外存流量、片上复用、NoC 拥塞与带宽效率</a:t>
            </a:r>
            <a:endParaRPr sz="135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52387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④ 性能/功耗模型</a:t>
            </a:r>
            <a:endParaRPr sz="1575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5581650"/>
            <a:ext cx="4905375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实测或仿真校准 TTFT、TPOT、利用率与 PPA 估算</a:t>
            </a:r>
            <a:endParaRPr sz="135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00800" y="2686050"/>
            <a:ext cx="12192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外存</a:t>
            </a:r>
            <a:endParaRPr sz="150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72375" y="2686050"/>
            <a:ext cx="36290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 GB  /  256 GB/s 峰值</a:t>
            </a:r>
            <a:endParaRPr sz="135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00800" y="3238500"/>
            <a:ext cx="4791075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00800" y="3419475"/>
            <a:ext cx="12192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片上</a:t>
            </a:r>
            <a:endParaRPr sz="150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572375" y="3419475"/>
            <a:ext cx="36290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64 MB SRAM</a:t>
            </a:r>
            <a:endParaRPr sz="135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00800" y="3971925"/>
            <a:ext cx="4791075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400800" y="4152900"/>
            <a:ext cx="12192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互连</a:t>
            </a:r>
            <a:endParaRPr sz="150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572375" y="4152900"/>
            <a:ext cx="36290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4×4 2D Mesh；NoC 聚合 512 GB/s</a:t>
            </a:r>
            <a:endParaRPr sz="135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400800" y="4705350"/>
            <a:ext cx="4791075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400800" y="4886325"/>
            <a:ext cx="12192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算力</a:t>
            </a:r>
            <a:endParaRPr sz="150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572375" y="4886325"/>
            <a:ext cx="36290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BF16 8–16 TFLOPS；INT8 16–32 TOPS</a:t>
            </a:r>
            <a:endParaRPr sz="135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00800" y="5438775"/>
            <a:ext cx="4791075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391275" y="5619750"/>
            <a:ext cx="48291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边界：POC 不以 80 token/s 或 30 W 实测作为本阶段交付。</a:t>
            </a:r>
            <a:endParaRPr sz="135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838200" y="4191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/  POC 阶段</a:t>
            </a:r>
            <a:endParaRPr sz="120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38200" y="7620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POC 退出条件</a:t>
            </a:r>
            <a:endParaRPr sz="285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13906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49565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不只验收单个汇编内核，而是验收从模型到可量化决策的闭环</a:t>
            </a:r>
            <a:endParaRPr sz="1500" b="0">
              <a:solidFill>
                <a:srgbClr val="49565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1866900"/>
            <a:ext cx="10515600" cy="19050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6343650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6448425"/>
            <a:ext cx="9429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LLM ASIC 项目讨论稿  ·  规格为目标或假设，须经 POC 验证</a:t>
            </a:r>
            <a:endParaRPr sz="1050" b="0">
              <a:solidFill>
                <a:srgbClr val="7080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810875" y="6448425"/>
            <a:ext cx="5524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70808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050" b="0">
              <a:solidFill>
                <a:srgbClr val="70808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219325"/>
            <a:ext cx="184785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 跑通</a:t>
            </a:r>
            <a:endParaRPr sz="172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790825" y="2181225"/>
            <a:ext cx="83439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4B 模型 Prefill + Decode；与 PyTorch 基线逐层/端到端对照</a:t>
            </a:r>
            <a:endParaRPr sz="1500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905125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3057525"/>
            <a:ext cx="184785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  可编译</a:t>
            </a:r>
            <a:endParaRPr sz="172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790825" y="3019425"/>
            <a:ext cx="83439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主要算子具备可复现内核；编译映射与运行时驱动完整前向</a:t>
            </a:r>
            <a:endParaRPr sz="1500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3743325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3895725"/>
            <a:ext cx="184785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可解释</a:t>
            </a:r>
            <a:endParaRPr sz="172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790825" y="3857625"/>
            <a:ext cx="83439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给出 4K / 8K、Batch 1 / 2 的 TTFT、TPOT 与逐层数据搬运</a:t>
            </a:r>
            <a:endParaRPr sz="1500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8200" y="4581525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4733925"/>
            <a:ext cx="184785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 可决策</a:t>
            </a:r>
            <a:endParaRPr sz="1725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790825" y="4695825"/>
            <a:ext cx="83439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用校准过的性能/功耗模型判断 80 token/s、30 W 是否可达</a:t>
            </a:r>
            <a:endParaRPr sz="1500" b="0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5419725"/>
            <a:ext cx="10515600" cy="9525"/>
          </a:xfrm>
          <a:prstGeom prst="rect">
            <a:avLst/>
          </a:prstGeom>
          <a:solidFill>
            <a:srgbClr val="D6DEE2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5743575"/>
            <a:ext cx="10515600" cy="428625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71550" y="5838825"/>
            <a:ext cx="101917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Go / No-Go：达标则推进 ASIC 规格冻结；否则调整 KV 精度、带宽、功耗档位或速度目标。</a:t>
            </a:r>
            <a:endParaRPr sz="1275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838200" y="4191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/  POC 阶段</a:t>
            </a:r>
            <a:endParaRPr sz="120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38200" y="7620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架构图</a:t>
            </a:r>
            <a:endParaRPr lang="zh-CN" sz="285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3" name="图片 22" descr="1b5f813482341ad7c4061e1212afe2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550" y="0"/>
            <a:ext cx="6438900" cy="6858000"/>
          </a:xfrm>
          <a:prstGeom prst="rect">
            <a:avLst/>
          </a:prstGeom>
        </p:spPr>
      </p:pic>
      <p:pic>
        <p:nvPicPr>
          <p:cNvPr id="24" name="图片 23" descr="1b5f813482341ad7c4061e1212afe2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550" y="0"/>
            <a:ext cx="64389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838200" y="4191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245D7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 /  POC 阶段</a:t>
            </a:r>
            <a:endParaRPr sz="1200" b="1">
              <a:solidFill>
                <a:srgbClr val="245D7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38200" y="7620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altLang="zh-CN"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POC </a:t>
            </a:r>
            <a:r>
              <a:rPr lang="zh-CN" altLang="en-US"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阶段结束的</a:t>
            </a:r>
            <a:r>
              <a:rPr lang="zh-CN" altLang="en-US" sz="2850" b="1">
                <a:solidFill>
                  <a:srgbClr val="1D252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标志</a:t>
            </a:r>
            <a:endParaRPr lang="zh-CN" altLang="en-US" sz="2850" b="1">
              <a:solidFill>
                <a:srgbClr val="1D252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5520" y="1643380"/>
            <a:ext cx="10478135" cy="4559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1.GEMM、GEMV、Attention、KVCache、RMSNorm</a:t>
            </a:r>
            <a:r>
              <a:rPr lang="zh-CN" altLang="en-US" sz="2400"/>
              <a:t>汇编编写算子的算子跑通并且执行正确</a:t>
            </a:r>
            <a:br>
              <a:rPr lang="zh-CN" altLang="en-US" sz="2400"/>
            </a:br>
            <a:r>
              <a:rPr lang="zh-CN" altLang="en-US" sz="2400"/>
              <a:t>2.打通"</a:t>
            </a:r>
            <a:r>
              <a:rPr lang="en-US" altLang="zh-CN" sz="2400"/>
              <a:t>PyTorchCompilerUMD/KMDgem5/RTL"</a:t>
            </a:r>
            <a:r>
              <a:rPr lang="zh-CN" altLang="en-US" sz="2400"/>
              <a:t>的完整闭环</a:t>
            </a:r>
            <a:endParaRPr lang="zh-CN" altLang="en-US" sz="2400"/>
          </a:p>
          <a:p>
            <a:r>
              <a:rPr lang="en-US" altLang="zh-CN" sz="2400"/>
              <a:t>3.Compiler</a:t>
            </a:r>
            <a:r>
              <a:rPr lang="zh-CN" altLang="en-US" sz="2400"/>
              <a:t>应具有对不同</a:t>
            </a:r>
            <a:r>
              <a:rPr lang="en-US" altLang="zh-CN" sz="2400"/>
              <a:t>Tile</a:t>
            </a:r>
            <a:r>
              <a:rPr lang="zh-CN" altLang="en-US" sz="2400"/>
              <a:t>数量，</a:t>
            </a:r>
            <a:r>
              <a:rPr lang="en-US" altLang="zh-CN" sz="2400"/>
              <a:t>SRAM</a:t>
            </a:r>
            <a:r>
              <a:rPr lang="zh-CN" altLang="en-US" sz="2400"/>
              <a:t>大小，</a:t>
            </a:r>
            <a:r>
              <a:rPr lang="en-US" altLang="zh-CN" sz="2400"/>
              <a:t>noc</a:t>
            </a:r>
            <a:r>
              <a:rPr lang="zh-CN" altLang="en-US" sz="2400"/>
              <a:t>带宽的抽象</a:t>
            </a:r>
            <a:br>
              <a:rPr lang="zh-CN" altLang="en-US" sz="2400"/>
            </a:br>
            <a:r>
              <a:rPr lang="zh-CN" altLang="en-US" sz="2400"/>
              <a:t>4.完成</a:t>
            </a:r>
            <a:r>
              <a:rPr lang="en-US" altLang="zh-CN" sz="2400"/>
              <a:t>KMD/UMD</a:t>
            </a:r>
            <a:r>
              <a:rPr lang="zh-CN" altLang="en-US" sz="2400"/>
              <a:t>驱动基础软件栈支持设备管理、内存管理、</a:t>
            </a:r>
            <a:r>
              <a:rPr lang="en-US" altLang="zh-CN" sz="2400"/>
              <a:t>Command</a:t>
            </a:r>
            <a:r>
              <a:rPr lang="zh-CN" altLang="en-US" sz="2400"/>
              <a:t>提交、</a:t>
            </a:r>
            <a:r>
              <a:rPr lang="en-US" altLang="zh-CN" sz="2400"/>
              <a:t>DMA</a:t>
            </a:r>
            <a:r>
              <a:rPr lang="zh-CN" altLang="en-US" sz="2400"/>
              <a:t>等</a:t>
            </a:r>
            <a:endParaRPr lang="zh-CN" altLang="en-US" sz="2400"/>
          </a:p>
          <a:p>
            <a:r>
              <a:rPr lang="en-US" altLang="zh-CN" sz="2400"/>
              <a:t>5.gem</a:t>
            </a:r>
            <a:r>
              <a:rPr lang="zh-CN" altLang="en-US" sz="2400"/>
              <a:t>性能模型搭建完成并搭建性能评估基础设施，硬件利用率统计</a:t>
            </a:r>
            <a:br>
              <a:rPr lang="zh-CN" altLang="en-US" sz="2400"/>
            </a:br>
            <a:r>
              <a:rPr lang="en-US" altLang="zh-CN" sz="2400"/>
              <a:t>Latency           182 us</a:t>
            </a:r>
            <a:endParaRPr lang="en-US" altLang="zh-CN" sz="2400"/>
          </a:p>
          <a:p>
            <a:r>
              <a:rPr lang="en-US" altLang="zh-CN" sz="2400"/>
              <a:t>PE Utilization    82%</a:t>
            </a:r>
            <a:endParaRPr lang="en-US" altLang="zh-CN" sz="2400"/>
          </a:p>
          <a:p>
            <a:r>
              <a:rPr lang="en-US" altLang="zh-CN" sz="2400"/>
              <a:t>SRAM BW        710 GB/s</a:t>
            </a:r>
            <a:endParaRPr lang="en-US" altLang="zh-CN" sz="2400"/>
          </a:p>
          <a:p>
            <a:r>
              <a:rPr lang="en-US" altLang="zh-CN" sz="2400"/>
              <a:t>DRAM BW        215 GB/s</a:t>
            </a:r>
            <a:endParaRPr lang="en-US" altLang="zh-CN" sz="2400"/>
          </a:p>
          <a:p>
            <a:r>
              <a:rPr lang="en-US" altLang="zh-CN" sz="2400"/>
              <a:t>NoC BW           190 GB/s</a:t>
            </a:r>
            <a:endParaRPr lang="en-US" alt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1891</Words>
  <Application>WPS 演示</Application>
  <PresentationFormat>Converted Presentation</PresentationFormat>
  <Paragraphs>178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Arial</vt:lpstr>
      <vt:lpstr>Wingdings</vt:lpstr>
      <vt:lpstr>PingFang SC</vt:lpstr>
      <vt:lpstr>微软雅黑</vt:lpstr>
      <vt:lpstr>汉仪旗黑</vt:lpstr>
      <vt:lpstr>宋体</vt:lpstr>
      <vt:lpstr>Arial Unicode MS</vt:lpstr>
      <vt:lpstr>苹方-简</vt:lpstr>
      <vt:lpstr>汉仪书宋二KW</vt:lpstr>
      <vt:lpstr>Calibri</vt:lpstr>
      <vt:lpstr>Helvetica Neue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贪念必死</cp:lastModifiedBy>
  <cp:revision>1</cp:revision>
  <dcterms:created xsi:type="dcterms:W3CDTF">2026-09-30T11:47:35Z</dcterms:created>
  <dcterms:modified xsi:type="dcterms:W3CDTF">2026-09-30T11:47:35Z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2052-12.1.25849.25849</vt:lpwstr>
  </property>
  <property fmtid="{D5CDD505-2E9C-101B-9397-08002B2CF9AE}" pid="3" name="ICV">
    <vt:lpwstr>0EAD8739793632F3D7F6BC6A6F5B1718_42</vt:lpwstr>
  </property>
</Properties>
</file>