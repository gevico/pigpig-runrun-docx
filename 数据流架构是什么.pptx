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8" r:id="rId4"/>
    <p:sldId id="257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8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3.png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3.png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数据流架构是什么，为什么</a:t>
            </a:r>
            <a:r>
              <a:rPr lang="zh-CN" altLang="zh-CN"/>
              <a:t>需要他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844245"/>
            <a:ext cx="9799200" cy="1472400"/>
          </a:xfrm>
        </p:spPr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59865" y="274955"/>
            <a:ext cx="9271635" cy="5929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200000"/>
              </a:lnSpc>
            </a:pPr>
            <a:r>
              <a:rPr lang="zh-CN" altLang="en-US" sz="4000"/>
              <a:t>目录</a:t>
            </a:r>
            <a:endParaRPr lang="zh-CN" altLang="en-US" sz="4000"/>
          </a:p>
          <a:p>
            <a:pPr indent="0" fontAlgn="auto">
              <a:lnSpc>
                <a:spcPct val="200000"/>
              </a:lnSpc>
            </a:pPr>
            <a:r>
              <a:rPr lang="en-US" altLang="zh-CN" sz="4000"/>
              <a:t>1. </a:t>
            </a:r>
            <a:r>
              <a:rPr lang="zh-CN" altLang="en-US" sz="4000"/>
              <a:t>数据流架构</a:t>
            </a:r>
            <a:r>
              <a:rPr lang="zh-CN" altLang="en-US" sz="4000"/>
              <a:t>是什么</a:t>
            </a:r>
            <a:endParaRPr lang="zh-CN" altLang="en-US" sz="4000"/>
          </a:p>
          <a:p>
            <a:pPr indent="0" fontAlgn="auto">
              <a:lnSpc>
                <a:spcPct val="200000"/>
              </a:lnSpc>
            </a:pPr>
            <a:r>
              <a:rPr lang="en-US" altLang="zh-CN" sz="4000"/>
              <a:t>2. </a:t>
            </a:r>
            <a:r>
              <a:rPr lang="zh-CN" altLang="en-US" sz="4000"/>
              <a:t>数据流架构的几种技术</a:t>
            </a:r>
            <a:r>
              <a:rPr lang="zh-CN" altLang="en-US" sz="4000"/>
              <a:t>分支</a:t>
            </a:r>
            <a:endParaRPr lang="zh-CN" altLang="en-US" sz="4000"/>
          </a:p>
          <a:p>
            <a:pPr indent="0" fontAlgn="auto">
              <a:lnSpc>
                <a:spcPct val="200000"/>
              </a:lnSpc>
            </a:pPr>
            <a:r>
              <a:rPr lang="en-US" altLang="zh-CN" sz="4000"/>
              <a:t>3. </a:t>
            </a:r>
            <a:r>
              <a:rPr lang="zh-CN" altLang="en-US" sz="4000"/>
              <a:t>为什么需要数据流</a:t>
            </a:r>
            <a:r>
              <a:rPr lang="zh-CN" altLang="en-US" sz="4000"/>
              <a:t>架构</a:t>
            </a:r>
            <a:endParaRPr lang="zh-CN" altLang="en-US" sz="4000"/>
          </a:p>
          <a:p>
            <a:pPr indent="0" fontAlgn="auto">
              <a:lnSpc>
                <a:spcPct val="200000"/>
              </a:lnSpc>
            </a:pPr>
            <a:r>
              <a:rPr lang="en-US" altLang="zh-CN" sz="4000"/>
              <a:t>4. </a:t>
            </a:r>
            <a:r>
              <a:rPr lang="zh-CN" altLang="en-US" sz="4000"/>
              <a:t>目前的数据流架构的产业</a:t>
            </a:r>
            <a:r>
              <a:rPr lang="zh-CN" altLang="en-US" sz="4000"/>
              <a:t>布局</a:t>
            </a:r>
            <a:endParaRPr lang="en-US" altLang="zh-CN" sz="40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4387215" cy="605155"/>
          </a:xfrm>
        </p:spPr>
        <p:txBody>
          <a:bodyPr>
            <a:noAutofit/>
          </a:bodyPr>
          <a:p>
            <a:r>
              <a:rPr lang="zh-CN" altLang="en-US" sz="3200"/>
              <a:t>数据流架构是什么？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</a:t>
            </a:r>
            <a:endParaRPr lang="en-US" altLang="zh-CN" sz="2800"/>
          </a:p>
          <a:p>
            <a:r>
              <a:rPr lang="zh-CN" altLang="en-US" sz="2800"/>
              <a:t>数据流架构，就是由数据驱动执行的计算架构。当一个计算节点所有的输入数据都准备好了，就可以立刻开始执行，而不需要受 </a:t>
            </a:r>
            <a:r>
              <a:rPr lang="en-US" altLang="zh-CN" sz="2800"/>
              <a:t>PC </a:t>
            </a:r>
            <a:r>
              <a:rPr lang="zh-CN" altLang="en-US" sz="2800"/>
              <a:t>或其他控制单元的控制。</a:t>
            </a:r>
            <a:br>
              <a:rPr lang="zh-CN" altLang="en-US" sz="2800"/>
            </a:br>
            <a:br>
              <a:rPr lang="zh-CN" altLang="en-US" sz="2800"/>
            </a:br>
            <a:r>
              <a:rPr lang="zh-CN" altLang="en-US" sz="2800"/>
              <a:t>核心机制：</a:t>
            </a:r>
            <a:endParaRPr lang="zh-CN" altLang="en-US" sz="2800"/>
          </a:p>
          <a:p>
            <a:pPr indent="457200"/>
            <a:r>
              <a:rPr lang="zh-CN" altLang="en-US" sz="2800"/>
              <a:t>数据流图</a:t>
            </a:r>
            <a:endParaRPr lang="zh-CN" altLang="en-US" sz="2800"/>
          </a:p>
          <a:p>
            <a:pPr indent="457200"/>
            <a:r>
              <a:rPr lang="zh-CN" altLang="en-US" sz="2800"/>
              <a:t>数据令牌</a:t>
            </a:r>
            <a:endParaRPr lang="zh-CN" altLang="en-US" sz="2800"/>
          </a:p>
          <a:p>
            <a:pPr indent="457200"/>
            <a:r>
              <a:rPr lang="zh-CN" altLang="en-US" sz="2800"/>
              <a:t>点火规则</a:t>
            </a:r>
            <a:br>
              <a:rPr lang="en-US" altLang="zh-CN" sz="2800"/>
            </a:br>
            <a:endParaRPr lang="en-US" altLang="zh-CN" sz="2800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1. </a:t>
            </a:r>
            <a:r>
              <a:rPr lang="zh-CN" altLang="en-US" sz="2800"/>
              <a:t>脉动阵列：以</a:t>
            </a:r>
            <a:r>
              <a:rPr lang="en-US" altLang="zh-CN" sz="2800"/>
              <a:t>google tpu</a:t>
            </a:r>
            <a:r>
              <a:rPr lang="zh-CN" altLang="en-US" sz="2800"/>
              <a:t>为例</a:t>
            </a:r>
            <a:br>
              <a:rPr lang="zh-CN" altLang="en-US" sz="2800"/>
            </a:br>
            <a:r>
              <a:rPr lang="zh-CN" altLang="en-US" sz="2800"/>
              <a:t>用大量规则排列的处理单元组成的计算架构。数据和中间结果按照固定节拍，在相邻处理单元之间逐级传递，就像心脏有节奏地“搏动”一样，因此称为“脉动阵列”。</a:t>
            </a:r>
            <a:br>
              <a:rPr lang="zh-CN" altLang="en-US" sz="2800"/>
            </a:br>
            <a:br>
              <a:rPr lang="zh-CN" altLang="en-US" sz="2800"/>
            </a:br>
            <a:r>
              <a:rPr lang="zh-CN" altLang="en-US" sz="2800"/>
              <a:t>以</a:t>
            </a:r>
            <a:r>
              <a:rPr lang="en-US" altLang="zh-CN" sz="2800"/>
              <a:t>google</a:t>
            </a:r>
            <a:r>
              <a:rPr lang="zh-CN" altLang="en-US" sz="2800"/>
              <a:t>的</a:t>
            </a:r>
            <a:r>
              <a:rPr lang="en-US" altLang="zh-CN" sz="2800"/>
              <a:t>tpu</a:t>
            </a:r>
            <a:r>
              <a:rPr lang="zh-CN" altLang="en-US" sz="2800"/>
              <a:t>为例</a:t>
            </a:r>
            <a:br>
              <a:rPr lang="zh-CN" altLang="en-US" sz="2800"/>
            </a:br>
            <a:r>
              <a:rPr lang="zh-CN" altLang="en-US" sz="2800"/>
              <a:t>二维</a:t>
            </a:r>
            <a:r>
              <a:rPr lang="en-US" altLang="zh-CN" sz="2800"/>
              <a:t>mesh</a:t>
            </a:r>
            <a:r>
              <a:rPr lang="zh-CN" altLang="en-US" sz="2800"/>
              <a:t>网络，</a:t>
            </a:r>
            <a:r>
              <a:rPr lang="en-US" altLang="zh-CN" sz="2800"/>
              <a:t>PE</a:t>
            </a:r>
            <a:r>
              <a:rPr lang="zh-CN" altLang="en-US" sz="2800"/>
              <a:t>间的数据传输方向已经在硬件层固定。</a:t>
            </a:r>
            <a:endParaRPr lang="zh-CN" altLang="en-US" sz="2800"/>
          </a:p>
          <a:p>
            <a:r>
              <a:rPr lang="en-US" altLang="zh-CN" sz="2800"/>
              <a:t>┌────────────</a:t>
            </a:r>
            <a:endParaRPr lang="en-US" altLang="zh-CN" sz="2800"/>
          </a:p>
          <a:p>
            <a:r>
              <a:rPr lang="en-US" altLang="zh-CN" sz="2800"/>
              <a:t>│ PE  PE  PE  PE  PE ...   │</a:t>
            </a:r>
            <a:endParaRPr lang="en-US" altLang="zh-CN" sz="2800"/>
          </a:p>
          <a:p>
            <a:r>
              <a:rPr lang="en-US" altLang="zh-CN" sz="2800"/>
              <a:t>│ PE  PE  PE  PE  PE ...   │ </a:t>
            </a:r>
            <a:endParaRPr lang="en-US" altLang="zh-CN" sz="2800"/>
          </a:p>
          <a:p>
            <a:r>
              <a:rPr lang="en-US" altLang="zh-CN" sz="2800"/>
              <a:t>└────────────</a:t>
            </a:r>
            <a:br>
              <a:rPr lang="en-US" altLang="zh-CN" sz="2800"/>
            </a:br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2. </a:t>
            </a:r>
            <a:r>
              <a:rPr lang="zh-CN" altLang="en-US" sz="2800"/>
              <a:t>算子级数据流：</a:t>
            </a:r>
            <a:br>
              <a:rPr lang="zh-CN" altLang="en-US" sz="2800"/>
            </a:br>
            <a:r>
              <a:rPr lang="zh-CN" altLang="en-US" sz="2800"/>
              <a:t>多个算子串成一条流水线，让前一个算子的输出直接成为后一个算子的输入。</a:t>
            </a:r>
            <a:br>
              <a:rPr lang="zh-CN" altLang="en-US" sz="2800"/>
            </a:br>
            <a:br>
              <a:rPr lang="zh-CN" altLang="en-US" sz="2800"/>
            </a:br>
            <a:r>
              <a:rPr lang="en-US" altLang="zh-CN" sz="2800"/>
              <a:t>A </a:t>
            </a:r>
            <a:r>
              <a:rPr lang="zh-CN" altLang="en-US" sz="2800"/>
              <a:t>全部算完</a:t>
            </a:r>
            <a:endParaRPr lang="zh-CN" altLang="en-US" sz="2800"/>
          </a:p>
          <a:p>
            <a:r>
              <a:rPr lang="en-US" altLang="zh-CN" sz="2800"/>
              <a:t>↓</a:t>
            </a:r>
            <a:endParaRPr lang="en-US" altLang="zh-CN" sz="2800"/>
          </a:p>
          <a:p>
            <a:r>
              <a:rPr lang="zh-CN" altLang="en-US" sz="2800"/>
              <a:t>写回内存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B </a:t>
            </a:r>
            <a:r>
              <a:rPr lang="zh-CN" altLang="en-US" sz="2800"/>
              <a:t>全部算完</a:t>
            </a:r>
            <a:endParaRPr lang="zh-CN" altLang="en-US" sz="2800"/>
          </a:p>
          <a:p>
            <a:r>
              <a:rPr lang="en-US" altLang="zh-CN" sz="2800"/>
              <a:t>↓</a:t>
            </a:r>
            <a:endParaRPr lang="en-US" altLang="zh-CN" sz="2800"/>
          </a:p>
          <a:p>
            <a:r>
              <a:rPr lang="zh-CN" altLang="en-US" sz="2800"/>
              <a:t>写回内存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C </a:t>
            </a:r>
            <a:r>
              <a:rPr lang="zh-CN" altLang="en-US" sz="2800"/>
              <a:t>全部算完</a:t>
            </a:r>
            <a:endParaRPr lang="zh-CN" alt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3865245" y="3135630"/>
            <a:ext cx="6854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A: ████</a:t>
            </a:r>
            <a:endParaRPr lang="en-US" altLang="zh-CN" sz="2400"/>
          </a:p>
          <a:p>
            <a:r>
              <a:rPr lang="en-US" altLang="zh-CN" sz="2400"/>
              <a:t>B:             █████████</a:t>
            </a:r>
            <a:endParaRPr lang="en-US" altLang="zh-CN" sz="2400"/>
          </a:p>
          <a:p>
            <a:r>
              <a:rPr lang="en-US" altLang="zh-CN" sz="2400"/>
              <a:t>C:                                        ████</a:t>
            </a:r>
            <a:endParaRPr lang="en-US" altLang="zh-CN" sz="240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2. </a:t>
            </a:r>
            <a:r>
              <a:rPr lang="zh-CN" altLang="en-US" sz="2800"/>
              <a:t>算子级数据流：</a:t>
            </a:r>
            <a:br>
              <a:rPr lang="zh-CN" altLang="en-US" sz="2800"/>
            </a:br>
            <a:r>
              <a:rPr lang="zh-CN" altLang="en-US" sz="2800"/>
              <a:t>多个算子串成一条流水线，让前一个算子的输出直接成为后一个算子的输入。</a:t>
            </a:r>
            <a:br>
              <a:rPr lang="zh-CN" altLang="en-US" sz="2800"/>
            </a:br>
            <a:br>
              <a:rPr lang="zh-CN" altLang="en-US" sz="2800"/>
            </a:br>
            <a:r>
              <a:rPr lang="en-US" altLang="zh-CN" sz="2800"/>
              <a:t>A</a:t>
            </a:r>
            <a:r>
              <a:rPr lang="zh-CN" altLang="en-US" sz="2800"/>
              <a:t>处理第1块 → </a:t>
            </a:r>
            <a:r>
              <a:rPr lang="en-US" altLang="zh-CN" sz="2800"/>
              <a:t>B</a:t>
            </a:r>
            <a:r>
              <a:rPr lang="zh-CN" altLang="en-US" sz="2800"/>
              <a:t>处理第1块 → </a:t>
            </a:r>
            <a:r>
              <a:rPr lang="en-US" altLang="zh-CN" sz="2800"/>
              <a:t>C</a:t>
            </a:r>
            <a:r>
              <a:rPr lang="zh-CN" altLang="en-US" sz="2800"/>
              <a:t>处理第1块</a:t>
            </a:r>
            <a:endParaRPr lang="zh-CN" altLang="en-US" sz="2800"/>
          </a:p>
          <a:p>
            <a:r>
              <a:rPr lang="en-US" altLang="zh-CN" sz="2800"/>
              <a:t>A</a:t>
            </a:r>
            <a:r>
              <a:rPr lang="zh-CN" altLang="en-US" sz="2800"/>
              <a:t>处理第2块 → </a:t>
            </a:r>
            <a:r>
              <a:rPr lang="en-US" altLang="zh-CN" sz="2800"/>
              <a:t>B</a:t>
            </a:r>
            <a:r>
              <a:rPr lang="zh-CN" altLang="en-US" sz="2800"/>
              <a:t>处理第2块 → </a:t>
            </a:r>
            <a:r>
              <a:rPr lang="en-US" altLang="zh-CN" sz="2800"/>
              <a:t>C</a:t>
            </a:r>
            <a:r>
              <a:rPr lang="zh-CN" altLang="en-US" sz="2800"/>
              <a:t>处理第2块</a:t>
            </a:r>
            <a:endParaRPr lang="zh-CN" altLang="en-US" sz="2800"/>
          </a:p>
          <a:p>
            <a:r>
              <a:rPr lang="en-US" altLang="zh-CN" sz="2800"/>
              <a:t>A</a:t>
            </a:r>
            <a:r>
              <a:rPr lang="zh-CN" altLang="en-US" sz="2800"/>
              <a:t>处理第3块 → </a:t>
            </a:r>
            <a:r>
              <a:rPr lang="en-US" altLang="zh-CN" sz="2800"/>
              <a:t>B</a:t>
            </a:r>
            <a:r>
              <a:rPr lang="zh-CN" altLang="en-US" sz="2800"/>
              <a:t>处理第3块 → </a:t>
            </a:r>
            <a:r>
              <a:rPr lang="en-US" altLang="zh-CN" sz="2800"/>
              <a:t>C</a:t>
            </a:r>
            <a:r>
              <a:rPr lang="zh-CN" altLang="en-US" sz="2800"/>
              <a:t>处理第3块</a:t>
            </a:r>
            <a:endParaRPr lang="zh-CN" alt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3865245" y="4871720"/>
            <a:ext cx="6854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A: ███ ███ ███ ███</a:t>
            </a:r>
            <a:endParaRPr lang="en-US" altLang="zh-CN" sz="2400"/>
          </a:p>
          <a:p>
            <a:r>
              <a:rPr lang="en-US" altLang="zh-CN" sz="2400"/>
              <a:t>B:     ███ ███ ███ ███</a:t>
            </a:r>
            <a:endParaRPr lang="en-US" altLang="zh-CN" sz="2400"/>
          </a:p>
          <a:p>
            <a:r>
              <a:rPr lang="en-US" altLang="zh-CN" sz="2400"/>
              <a:t>C:         ███ ███ ███ ███</a:t>
            </a:r>
            <a:endParaRPr lang="en-US" altLang="zh-CN" sz="240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3. </a:t>
            </a:r>
            <a:r>
              <a:rPr lang="zh-CN" altLang="en-US" sz="2800"/>
              <a:t>可重构空间数据流 </a:t>
            </a:r>
            <a:endParaRPr lang="zh-CN" altLang="en-US" sz="2800"/>
          </a:p>
          <a:p>
            <a:r>
              <a:rPr lang="zh-CN" altLang="en-US" sz="2800"/>
              <a:t>空间中放置大量计算单元，同时让这些计算单元之间的连接方式和计算功能可以重新配置，从而针对不同算法形成不同的数据流结构</a:t>
            </a:r>
            <a:r>
              <a:rPr lang="en-US" altLang="zh-CN" sz="2800"/>
              <a:t>.</a:t>
            </a:r>
            <a:br>
              <a:rPr lang="en-US" altLang="zh-CN" sz="2800"/>
            </a:br>
            <a:br>
              <a:rPr lang="en-US" altLang="zh-CN" sz="2800"/>
            </a:br>
            <a:r>
              <a:rPr lang="zh-CN" altLang="en-US" sz="2800"/>
              <a:t>与脉动阵列相对比，可重构空间数据流，</a:t>
            </a:r>
            <a:r>
              <a:rPr lang="en-US" altLang="zh-CN" sz="2800"/>
              <a:t>PE </a:t>
            </a:r>
            <a:r>
              <a:rPr lang="zh-CN" altLang="en-US" sz="2800"/>
              <a:t>之间的连接不是完全固定的，可以配置。</a:t>
            </a:r>
            <a:br>
              <a:rPr lang="zh-CN" altLang="en-US" sz="2800"/>
            </a:br>
            <a:br>
              <a:rPr lang="zh-CN" altLang="en-US" sz="2800"/>
            </a:br>
            <a:r>
              <a:rPr lang="zh-CN" altLang="en-US" sz="2800"/>
              <a:t>实现</a:t>
            </a:r>
            <a:r>
              <a:rPr lang="en-US" altLang="zh-CN" sz="2800"/>
              <a:t>PE</a:t>
            </a:r>
            <a:r>
              <a:rPr lang="zh-CN" altLang="en-US" sz="2800"/>
              <a:t>节点可配置互联，有多种</a:t>
            </a:r>
            <a:r>
              <a:rPr lang="zh-CN" altLang="en-US" sz="2800"/>
              <a:t>方法。</a:t>
            </a:r>
            <a:br>
              <a:rPr lang="zh-CN" altLang="en-US" sz="2800"/>
            </a:br>
            <a:br>
              <a:rPr lang="zh-CN" altLang="en-US" sz="2800"/>
            </a:br>
            <a:br>
              <a:rPr lang="zh-CN" altLang="en-US" sz="2800"/>
            </a:br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3. </a:t>
            </a:r>
            <a:r>
              <a:rPr lang="zh-CN" altLang="en-US" sz="2800"/>
              <a:t>可重构空间数据流 </a:t>
            </a:r>
            <a:endParaRPr lang="zh-CN" altLang="en-US" sz="2800"/>
          </a:p>
          <a:p>
            <a:r>
              <a:rPr lang="en-US" altLang="zh-CN" sz="2800"/>
              <a:t>  3.1 CGRA:</a:t>
            </a:r>
            <a:r>
              <a:rPr lang="zh-CN" altLang="en-US" sz="2800"/>
              <a:t>可以动态配置数据流向，但仅限相邻节点。</a:t>
            </a:r>
            <a:br>
              <a:rPr lang="en-US" altLang="zh-CN" sz="2800"/>
            </a:br>
            <a:br>
              <a:rPr lang="en-US" altLang="zh-CN" sz="2800"/>
            </a:br>
            <a:br>
              <a:rPr lang="zh-CN" altLang="en-US" sz="2800"/>
            </a:br>
            <a:br>
              <a:rPr lang="zh-CN" altLang="en-US" sz="2800"/>
            </a:br>
            <a:endParaRPr lang="zh-CN" altLang="en-US" sz="2800"/>
          </a:p>
        </p:txBody>
      </p:sp>
      <p:pic>
        <p:nvPicPr>
          <p:cNvPr id="2" name="图片 1" descr="截屏2026-09-27 14.48.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65" y="2210435"/>
            <a:ext cx="4928235" cy="3671570"/>
          </a:xfrm>
          <a:prstGeom prst="rect">
            <a:avLst/>
          </a:prstGeom>
        </p:spPr>
      </p:pic>
      <p:pic>
        <p:nvPicPr>
          <p:cNvPr id="3" name="图片 2" descr="截屏2026-09-27 14.50.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85" y="2210435"/>
            <a:ext cx="3935095" cy="39014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3. </a:t>
            </a:r>
            <a:r>
              <a:rPr lang="zh-CN" altLang="en-US" sz="2800"/>
              <a:t>可重构空间数据流 </a:t>
            </a:r>
            <a:endParaRPr lang="zh-CN" altLang="en-US" sz="2800"/>
          </a:p>
          <a:p>
            <a:r>
              <a:rPr lang="en-US" altLang="zh-CN" sz="2800"/>
              <a:t>  3.2 noc</a:t>
            </a:r>
            <a:r>
              <a:rPr lang="zh-CN" altLang="en-US" sz="2800"/>
              <a:t>：把大量的</a:t>
            </a:r>
            <a:r>
              <a:rPr lang="en-US" altLang="zh-CN" sz="2800"/>
              <a:t>PE</a:t>
            </a:r>
            <a:r>
              <a:rPr lang="zh-CN" altLang="en-US" sz="2800"/>
              <a:t>组成一个通信网络，让数据以 </a:t>
            </a:r>
            <a:r>
              <a:rPr lang="en-US" altLang="zh-CN" sz="2800"/>
              <a:t>Packet/Flit </a:t>
            </a:r>
            <a:r>
              <a:rPr lang="zh-CN" altLang="en-US" sz="2800"/>
              <a:t>的形式在 </a:t>
            </a:r>
            <a:r>
              <a:rPr lang="en-US" altLang="zh-CN" sz="2800"/>
              <a:t>Router </a:t>
            </a:r>
            <a:r>
              <a:rPr lang="zh-CN" altLang="en-US" sz="2800"/>
              <a:t>之间进行多跳传输</a:t>
            </a:r>
            <a:br>
              <a:rPr lang="zh-CN" altLang="en-US" sz="2800"/>
            </a:br>
            <a:endParaRPr lang="zh-CN" altLang="en-US" sz="2800"/>
          </a:p>
        </p:txBody>
      </p:sp>
      <p:pic>
        <p:nvPicPr>
          <p:cNvPr id="4" name="图片 3" descr="截屏2026-09-27 14.57.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2807970"/>
            <a:ext cx="6934200" cy="36239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4. </a:t>
            </a:r>
            <a:r>
              <a:rPr lang="zh-CN" altLang="en-US" sz="2800"/>
              <a:t>动态、事件驱动和稀疏数据流</a:t>
            </a:r>
            <a:endParaRPr lang="zh-CN" altLang="en-US" sz="2800"/>
          </a:p>
          <a:p>
            <a:r>
              <a:rPr lang="en-US" altLang="zh-CN" sz="2800"/>
              <a:t>  3.2 noc</a:t>
            </a:r>
            <a:r>
              <a:rPr lang="zh-CN" altLang="en-US" sz="2800"/>
              <a:t>：把大量的</a:t>
            </a:r>
            <a:r>
              <a:rPr lang="en-US" altLang="zh-CN" sz="2800"/>
              <a:t>PE</a:t>
            </a:r>
            <a:r>
              <a:rPr lang="zh-CN" altLang="en-US" sz="2800"/>
              <a:t>组成一个通信网络，让数据以 </a:t>
            </a:r>
            <a:r>
              <a:rPr lang="en-US" altLang="zh-CN" sz="2800"/>
              <a:t>Packet/Flit </a:t>
            </a:r>
            <a:r>
              <a:rPr lang="zh-CN" altLang="en-US" sz="2800"/>
              <a:t>的形式在 </a:t>
            </a:r>
            <a:r>
              <a:rPr lang="en-US" altLang="zh-CN" sz="2800"/>
              <a:t>Router </a:t>
            </a:r>
            <a:r>
              <a:rPr lang="zh-CN" altLang="en-US" sz="2800"/>
              <a:t>之间进行多跳传输</a:t>
            </a:r>
            <a:br>
              <a:rPr lang="zh-CN" altLang="en-US" sz="2800"/>
            </a:br>
            <a:endParaRPr lang="zh-CN" altLang="en-US" sz="2800"/>
          </a:p>
        </p:txBody>
      </p:sp>
      <p:pic>
        <p:nvPicPr>
          <p:cNvPr id="4" name="图片 3" descr="截屏2026-09-27 14.57.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2807970"/>
            <a:ext cx="6934200" cy="36239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4. </a:t>
            </a:r>
            <a:r>
              <a:rPr lang="zh-CN" altLang="en-US" sz="2800"/>
              <a:t>动态、事件驱动和稀疏数据流</a:t>
            </a:r>
            <a:endParaRPr lang="zh-CN" altLang="en-US" sz="2800"/>
          </a:p>
          <a:p>
            <a:r>
              <a:rPr lang="en-US" altLang="zh-CN" sz="2800"/>
              <a:t>  </a:t>
            </a:r>
            <a:r>
              <a:rPr lang="zh-CN" altLang="en-US" sz="2800"/>
              <a:t>动态、事件驱动的数据流，本质上是在改变“什么时候允许一个计算节点点火（</a:t>
            </a:r>
            <a:r>
              <a:rPr lang="en-US" altLang="zh-CN" sz="2800"/>
              <a:t>fire）”</a:t>
            </a:r>
            <a:r>
              <a:rPr lang="zh-CN" altLang="en-US" sz="2800"/>
              <a:t>的判定机制。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稀疏数据流则是在这个基础上进一步加入“哪些数据值得参与计算”的条件。</a:t>
            </a:r>
            <a:br>
              <a:rPr lang="zh-CN" altLang="en-US" sz="2800"/>
            </a:br>
            <a:br>
              <a:rPr lang="zh-CN" altLang="en-US" sz="2800"/>
            </a:br>
            <a:r>
              <a:rPr lang="zh-CN" altLang="en-US" sz="2800"/>
              <a:t>原版点火规则：</a:t>
            </a:r>
            <a:r>
              <a:rPr lang="en-US" altLang="zh-CN" sz="2800"/>
              <a:t>A valid ∧ B valid⇒Fire</a:t>
            </a:r>
            <a:br>
              <a:rPr lang="en-US" altLang="zh-CN" sz="2800"/>
            </a:br>
            <a:r>
              <a:rPr lang="zh-CN" altLang="en-US" sz="2800"/>
              <a:t>动态/事件驱动数据流</a:t>
            </a:r>
            <a:r>
              <a:rPr lang="en-US" altLang="zh-CN" sz="2800"/>
              <a:t>: A valid ∧ B valid ∧ Match(A,B)⇒Fire</a:t>
            </a:r>
            <a:br>
              <a:rPr lang="en-US" altLang="zh-CN" sz="2800"/>
            </a:br>
            <a:r>
              <a:rPr lang="zh-CN" altLang="en-US" sz="2800"/>
              <a:t>稀疏数据流：</a:t>
            </a:r>
            <a:r>
              <a:rPr lang="en-US" altLang="zh-CN" sz="2800"/>
              <a:t>A valid ∧B valid∧Match(A,B)∧Useful(A,B)⇒Fire</a:t>
            </a:r>
            <a:endParaRPr lang="en-US" altLang="zh-CN" sz="2800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488950" y="325120"/>
            <a:ext cx="5965190" cy="605155"/>
          </a:xfrm>
        </p:spPr>
        <p:txBody>
          <a:bodyPr>
            <a:noAutofit/>
          </a:bodyPr>
          <a:p>
            <a:r>
              <a:rPr lang="zh-CN" altLang="en-US" sz="3200">
                <a:sym typeface="+mn-ea"/>
              </a:rPr>
              <a:t>数据流架构的几种技术分支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627380" y="1258570"/>
            <a:ext cx="1009269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4. </a:t>
            </a:r>
            <a:r>
              <a:rPr lang="zh-CN" altLang="en-US" sz="2800"/>
              <a:t>动态、事件驱动和稀疏数据流</a:t>
            </a:r>
            <a:endParaRPr lang="zh-CN" altLang="en-US" sz="2800"/>
          </a:p>
          <a:p>
            <a:r>
              <a:rPr lang="en-US" altLang="zh-CN" sz="2800"/>
              <a:t>  </a:t>
            </a:r>
            <a:r>
              <a:rPr lang="zh-CN" altLang="en-US" sz="2800"/>
              <a:t>动态、事件驱动的数据流，本质上是在改变“什么时候允许一个计算节点点火（</a:t>
            </a:r>
            <a:r>
              <a:rPr lang="en-US" altLang="zh-CN" sz="2800"/>
              <a:t>fire）”</a:t>
            </a:r>
            <a:r>
              <a:rPr lang="zh-CN" altLang="en-US" sz="2800"/>
              <a:t>的判定机制。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稀疏数据流则是在这个基础上进一步加入“哪些数据值得参与计算”的条件。</a:t>
            </a:r>
            <a:br>
              <a:rPr lang="zh-CN" altLang="en-US" sz="2800"/>
            </a:br>
            <a:br>
              <a:rPr lang="zh-CN" altLang="en-US" sz="2800"/>
            </a:br>
            <a:r>
              <a:rPr lang="zh-CN" altLang="en-US" sz="2800"/>
              <a:t>原版点火规则：</a:t>
            </a:r>
            <a:r>
              <a:rPr lang="en-US" altLang="zh-CN" sz="2800"/>
              <a:t>A valid ∧ B valid⇒Fire</a:t>
            </a:r>
            <a:br>
              <a:rPr lang="en-US" altLang="zh-CN" sz="2800"/>
            </a:br>
            <a:r>
              <a:rPr lang="zh-CN" altLang="en-US" sz="2800"/>
              <a:t>动态/事件驱动数据流</a:t>
            </a:r>
            <a:r>
              <a:rPr lang="en-US" altLang="zh-CN" sz="2800"/>
              <a:t>: A valid ∧ B valid ∧ Match(A,B)⇒Fire</a:t>
            </a:r>
            <a:br>
              <a:rPr lang="en-US" altLang="zh-CN" sz="2800"/>
            </a:br>
            <a:r>
              <a:rPr lang="zh-CN" altLang="en-US" sz="2800"/>
              <a:t>稀疏数据流：</a:t>
            </a:r>
            <a:r>
              <a:rPr lang="en-US" altLang="zh-CN" sz="2800"/>
              <a:t>A valid ∧B valid∧Match(A,B)∧Useful(A,B)⇒Fire</a:t>
            </a:r>
            <a:endParaRPr lang="en-US" altLang="zh-CN" sz="2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</Words>
  <Application>WPS 演示</Application>
  <PresentationFormat>宽屏</PresentationFormat>
  <Paragraphs>84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数据流架构是什么，为什么需要他</vt:lpstr>
      <vt:lpstr>数据流架构是什么，为什么需要他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caojunze424</cp:lastModifiedBy>
  <cp:revision>164</cp:revision>
  <dcterms:created xsi:type="dcterms:W3CDTF">2026-09-27T09:21:58Z</dcterms:created>
  <dcterms:modified xsi:type="dcterms:W3CDTF">2026-09-27T09:21:58Z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2052-12.1.25849.25849</vt:lpwstr>
  </property>
  <property fmtid="{D5CDD505-2E9C-101B-9397-08002B2CF9AE}" pid="3" name="ICV">
    <vt:lpwstr>BA5A26150D7D96C625A4B86A4A0B0577_41</vt:lpwstr>
  </property>
</Properties>
</file>